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6858000" cx="12192000"/>
  <p:notesSz cx="6858000" cy="9144000"/>
  <p:embeddedFontLs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hbBlfRty1u0bN0a+0ite6W8+Ph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OpenSans-italic.fntdata"/><Relationship Id="rId23" Type="http://schemas.openxmlformats.org/officeDocument/2006/relationships/slide" Target="slides/slide19.xml"/><Relationship Id="rId45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customschemas.google.com/relationships/presentationmetadata" Target="metadata"/><Relationship Id="rId25" Type="http://schemas.openxmlformats.org/officeDocument/2006/relationships/slide" Target="slides/slide21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5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45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5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5.png"/><Relationship Id="rId4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-Cover-HK" showMasterSp="0">
  <p:cSld name="C-Cover-HK">
    <p:bg>
      <p:bgPr>
        <a:solidFill>
          <a:srgbClr val="CDEBF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41"/>
          <p:cNvGrpSpPr/>
          <p:nvPr/>
        </p:nvGrpSpPr>
        <p:grpSpPr>
          <a:xfrm>
            <a:off x="499712" y="210200"/>
            <a:ext cx="5864753" cy="6437601"/>
            <a:chOff x="499712" y="210200"/>
            <a:chExt cx="5864753" cy="6437601"/>
          </a:xfrm>
        </p:grpSpPr>
        <p:sp>
          <p:nvSpPr>
            <p:cNvPr id="14" name="Google Shape;14;p41"/>
            <p:cNvSpPr/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" name="Google Shape;15;p41"/>
            <p:cNvSpPr/>
            <p:nvPr/>
          </p:nvSpPr>
          <p:spPr>
            <a:xfrm rot="-5400000">
              <a:off x="472785" y="891320"/>
              <a:ext cx="632850" cy="578997"/>
            </a:xfrm>
            <a:prstGeom prst="rtTriangl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16" name="Google Shape;16;p41"/>
          <p:cNvGrpSpPr/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7" name="Google Shape;17;p41"/>
            <p:cNvSpPr/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" name="Google Shape;18;p41"/>
            <p:cNvSpPr/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9" name="Google Shape;19;p41"/>
          <p:cNvSpPr txBox="1"/>
          <p:nvPr>
            <p:ph type="title"/>
          </p:nvPr>
        </p:nvSpPr>
        <p:spPr>
          <a:xfrm>
            <a:off x="4756006" y="4084032"/>
            <a:ext cx="6903163" cy="204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78"/>
              </a:buClr>
              <a:buSzPts val="3200"/>
              <a:buFont typeface="Arial"/>
              <a:buNone/>
              <a:defRPr b="0">
                <a:solidFill>
                  <a:srgbClr val="00707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1"/>
          <p:cNvSpPr txBox="1"/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A9"/>
              </a:buClr>
              <a:buSzPts val="5400"/>
              <a:buFont typeface="Arial"/>
              <a:buNone/>
            </a:pPr>
            <a:r>
              <a:rPr b="1" i="0" lang="zh-TW" sz="5400" u="none" cap="none" strike="noStrike">
                <a:solidFill>
                  <a:srgbClr val="00A0A9"/>
                </a:solidFill>
                <a:latin typeface="Arial"/>
                <a:ea typeface="Arial"/>
                <a:cs typeface="Arial"/>
                <a:sym typeface="Arial"/>
              </a:rPr>
              <a:t>明德資訊及通訊科技</a:t>
            </a:r>
            <a:endParaRPr b="1" i="0" sz="5400" u="none" cap="none" strike="noStrike">
              <a:solidFill>
                <a:srgbClr val="00A0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98909"/>
            <a:ext cx="4744800" cy="47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169" y="724908"/>
            <a:ext cx="5712455" cy="7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0448" y="2853016"/>
            <a:ext cx="3189260" cy="5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&amp;C_blue-HK" showMasterSp="0">
  <p:cSld name="A&amp;C_blue-H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2"/>
          <p:cNvSpPr txBox="1"/>
          <p:nvPr>
            <p:ph idx="1" type="body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" name="Google Shape;30;p42"/>
          <p:cNvSpPr/>
          <p:nvPr>
            <p:ph idx="2" type="pic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blue">
  <p:cSld name="Content_blu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/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fmla="val 0" name="adj1"/>
              <a:gd fmla="val 24507" name="adj2"/>
            </a:avLst>
          </a:prstGeom>
          <a:solidFill>
            <a:srgbClr val="2132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" name="Google Shape;33;p43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3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" name="Google Shape;37;p43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alogy">
  <p:cSld name="analog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1875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4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4" name="Google Shape;44;p44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B3"/>
              </a:buClr>
              <a:buSzPts val="3200"/>
              <a:buFont typeface="Arial"/>
              <a:buNone/>
            </a:pPr>
            <a:r>
              <a:rPr b="0" i="0" lang="zh-TW" sz="3200" u="none" cap="none" strike="noStrike">
                <a:solidFill>
                  <a:srgbClr val="7570B3"/>
                </a:solidFill>
                <a:latin typeface="Arial"/>
                <a:ea typeface="Arial"/>
                <a:cs typeface="Arial"/>
                <a:sym typeface="Arial"/>
              </a:rPr>
              <a:t>類比</a:t>
            </a:r>
            <a:endParaRPr b="0" i="0" sz="3200" u="none" cap="none" strike="noStrike">
              <a:solidFill>
                <a:srgbClr val="7570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4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point-HK" showMasterSp="0">
  <p:cSld name="Checkpoint-H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5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5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276379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  <a:defRPr b="1" sz="2000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ample-HK" showMasterSp="0">
  <p:cSld name="Example-H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6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6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6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9" name="Google Shape;59;p46"/>
          <p:cNvSpPr txBox="1"/>
          <p:nvPr>
            <p:ph idx="2" type="body"/>
          </p:nvPr>
        </p:nvSpPr>
        <p:spPr>
          <a:xfrm>
            <a:off x="246934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  <a:defRPr b="1" sz="2000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-HK" showMasterSp="0">
  <p:cSld name="Activity-H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7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63" name="Google Shape;63;p47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7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7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6" name="Google Shape;66;p47"/>
          <p:cNvSpPr txBox="1"/>
          <p:nvPr>
            <p:ph idx="2" type="body"/>
          </p:nvPr>
        </p:nvSpPr>
        <p:spPr>
          <a:xfrm>
            <a:off x="2470901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  <a:defRPr b="1" sz="2000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-Cover-HK" showMasterSp="0">
  <p:cSld name="A-Cover-HK">
    <p:bg>
      <p:bgPr>
        <a:solidFill>
          <a:srgbClr val="CDEBF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48"/>
          <p:cNvGrpSpPr/>
          <p:nvPr/>
        </p:nvGrpSpPr>
        <p:grpSpPr>
          <a:xfrm>
            <a:off x="499712" y="210200"/>
            <a:ext cx="5864753" cy="6437601"/>
            <a:chOff x="499712" y="210200"/>
            <a:chExt cx="5864753" cy="6437601"/>
          </a:xfrm>
        </p:grpSpPr>
        <p:sp>
          <p:nvSpPr>
            <p:cNvPr id="69" name="Google Shape;69;p48"/>
            <p:cNvSpPr/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0" name="Google Shape;70;p48"/>
            <p:cNvSpPr/>
            <p:nvPr/>
          </p:nvSpPr>
          <p:spPr>
            <a:xfrm rot="-5400000">
              <a:off x="472785" y="891320"/>
              <a:ext cx="632850" cy="578997"/>
            </a:xfrm>
            <a:prstGeom prst="rtTriangl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71" name="Google Shape;71;p48"/>
          <p:cNvGrpSpPr/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72" name="Google Shape;72;p48"/>
            <p:cNvSpPr/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3" name="Google Shape;73;p48"/>
            <p:cNvSpPr/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74" name="Google Shape;74;p48"/>
          <p:cNvSpPr txBox="1"/>
          <p:nvPr>
            <p:ph type="title"/>
          </p:nvPr>
        </p:nvSpPr>
        <p:spPr>
          <a:xfrm>
            <a:off x="4756006" y="4084032"/>
            <a:ext cx="6903163" cy="204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78"/>
              </a:buClr>
              <a:buSzPts val="3200"/>
              <a:buFont typeface="Arial"/>
              <a:buNone/>
              <a:defRPr b="0">
                <a:solidFill>
                  <a:srgbClr val="00707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8"/>
          <p:cNvSpPr txBox="1"/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5400" u="none" cap="none" strike="noStrike">
                <a:solidFill>
                  <a:srgbClr val="00A0A9"/>
                </a:solidFill>
                <a:latin typeface="Arial"/>
                <a:ea typeface="Arial"/>
                <a:cs typeface="Arial"/>
                <a:sym typeface="Arial"/>
              </a:rPr>
              <a:t>明德資訊及通訊科技</a:t>
            </a:r>
            <a:endParaRPr b="1" i="0" sz="5400" u="none" cap="none" strike="noStrike">
              <a:solidFill>
                <a:srgbClr val="00A0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98909"/>
            <a:ext cx="4744800" cy="47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169" y="724908"/>
            <a:ext cx="5712455" cy="7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0448" y="2853016"/>
            <a:ext cx="2113404" cy="5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-Cover-HK" showMasterSp="0">
  <p:cSld name="B-Cover-HK">
    <p:bg>
      <p:bgPr>
        <a:solidFill>
          <a:srgbClr val="CDEBF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49"/>
          <p:cNvGrpSpPr/>
          <p:nvPr/>
        </p:nvGrpSpPr>
        <p:grpSpPr>
          <a:xfrm>
            <a:off x="499712" y="210200"/>
            <a:ext cx="5864753" cy="6437601"/>
            <a:chOff x="499712" y="210200"/>
            <a:chExt cx="5864753" cy="6437601"/>
          </a:xfrm>
        </p:grpSpPr>
        <p:sp>
          <p:nvSpPr>
            <p:cNvPr id="81" name="Google Shape;81;p49"/>
            <p:cNvSpPr/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2" name="Google Shape;82;p49"/>
            <p:cNvSpPr/>
            <p:nvPr/>
          </p:nvSpPr>
          <p:spPr>
            <a:xfrm rot="-5400000">
              <a:off x="472785" y="891320"/>
              <a:ext cx="632850" cy="578997"/>
            </a:xfrm>
            <a:prstGeom prst="rtTriangl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83" name="Google Shape;83;p49"/>
          <p:cNvGrpSpPr/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84" name="Google Shape;84;p49"/>
            <p:cNvSpPr/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5" name="Google Shape;85;p49"/>
            <p:cNvSpPr/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86" name="Google Shape;86;p49"/>
          <p:cNvSpPr txBox="1"/>
          <p:nvPr>
            <p:ph type="title"/>
          </p:nvPr>
        </p:nvSpPr>
        <p:spPr>
          <a:xfrm>
            <a:off x="4756006" y="4084032"/>
            <a:ext cx="6903163" cy="204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78"/>
              </a:buClr>
              <a:buSzPts val="3200"/>
              <a:buFont typeface="Arial"/>
              <a:buNone/>
              <a:defRPr b="0">
                <a:solidFill>
                  <a:srgbClr val="00707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9"/>
          <p:cNvSpPr txBox="1"/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A9"/>
              </a:buClr>
              <a:buSzPts val="5400"/>
              <a:buFont typeface="Arial"/>
              <a:buNone/>
            </a:pPr>
            <a:r>
              <a:rPr b="1" i="0" lang="zh-TW" sz="5400" u="none" cap="none" strike="noStrike">
                <a:solidFill>
                  <a:srgbClr val="00A0A9"/>
                </a:solidFill>
                <a:latin typeface="Arial"/>
                <a:ea typeface="Arial"/>
                <a:cs typeface="Arial"/>
                <a:sym typeface="Arial"/>
              </a:rPr>
              <a:t>明德資訊及通訊科技</a:t>
            </a:r>
            <a:endParaRPr b="1" i="0" sz="5400" u="none" cap="none" strike="noStrike">
              <a:solidFill>
                <a:srgbClr val="00A0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98909"/>
            <a:ext cx="4744800" cy="47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169" y="724908"/>
            <a:ext cx="5712455" cy="7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0448" y="2853016"/>
            <a:ext cx="2787011" cy="5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-Cover-HK" showMasterSp="0">
  <p:cSld name="D-Cover-HK">
    <p:bg>
      <p:bgPr>
        <a:solidFill>
          <a:srgbClr val="CDEBF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0"/>
          <p:cNvGrpSpPr/>
          <p:nvPr/>
        </p:nvGrpSpPr>
        <p:grpSpPr>
          <a:xfrm>
            <a:off x="499712" y="210200"/>
            <a:ext cx="5864753" cy="6437601"/>
            <a:chOff x="499712" y="210200"/>
            <a:chExt cx="5864753" cy="6437601"/>
          </a:xfrm>
        </p:grpSpPr>
        <p:sp>
          <p:nvSpPr>
            <p:cNvPr id="93" name="Google Shape;93;p50"/>
            <p:cNvSpPr/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" name="Google Shape;94;p50"/>
            <p:cNvSpPr/>
            <p:nvPr/>
          </p:nvSpPr>
          <p:spPr>
            <a:xfrm rot="-5400000">
              <a:off x="472785" y="891320"/>
              <a:ext cx="632850" cy="578997"/>
            </a:xfrm>
            <a:prstGeom prst="rtTriangl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95" name="Google Shape;95;p50"/>
          <p:cNvGrpSpPr/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96" name="Google Shape;96;p50"/>
            <p:cNvSpPr/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" name="Google Shape;97;p50"/>
            <p:cNvSpPr/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98" name="Google Shape;98;p50"/>
          <p:cNvSpPr txBox="1"/>
          <p:nvPr>
            <p:ph type="title"/>
          </p:nvPr>
        </p:nvSpPr>
        <p:spPr>
          <a:xfrm>
            <a:off x="4756006" y="4084032"/>
            <a:ext cx="6903163" cy="204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78"/>
              </a:buClr>
              <a:buSzPts val="3200"/>
              <a:buFont typeface="Arial"/>
              <a:buNone/>
              <a:defRPr b="0">
                <a:solidFill>
                  <a:srgbClr val="00707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0"/>
          <p:cNvSpPr txBox="1"/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A9"/>
              </a:buClr>
              <a:buSzPts val="5400"/>
              <a:buFont typeface="Arial"/>
              <a:buNone/>
            </a:pPr>
            <a:r>
              <a:rPr b="1" i="0" lang="zh-TW" sz="5400" u="none" cap="none" strike="noStrike">
                <a:solidFill>
                  <a:srgbClr val="00A0A9"/>
                </a:solidFill>
                <a:latin typeface="Arial"/>
                <a:ea typeface="Arial"/>
                <a:cs typeface="Arial"/>
                <a:sym typeface="Arial"/>
              </a:rPr>
              <a:t>明德資訊及通訊科技</a:t>
            </a:r>
            <a:endParaRPr b="1" i="0" sz="5400" u="none" cap="none" strike="noStrike">
              <a:solidFill>
                <a:srgbClr val="00A0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98909"/>
            <a:ext cx="4744800" cy="47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169" y="724908"/>
            <a:ext cx="5712455" cy="7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0448" y="2853016"/>
            <a:ext cx="3933102" cy="5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-Cover-HK" showMasterSp="0">
  <p:cSld name="E-Cover-HK">
    <p:bg>
      <p:bgPr>
        <a:solidFill>
          <a:srgbClr val="CDEBF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1"/>
          <p:cNvGrpSpPr/>
          <p:nvPr/>
        </p:nvGrpSpPr>
        <p:grpSpPr>
          <a:xfrm>
            <a:off x="499712" y="210200"/>
            <a:ext cx="5864753" cy="6437601"/>
            <a:chOff x="499712" y="210200"/>
            <a:chExt cx="5864753" cy="6437601"/>
          </a:xfrm>
        </p:grpSpPr>
        <p:sp>
          <p:nvSpPr>
            <p:cNvPr id="105" name="Google Shape;105;p51"/>
            <p:cNvSpPr/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" name="Google Shape;106;p51"/>
            <p:cNvSpPr/>
            <p:nvPr/>
          </p:nvSpPr>
          <p:spPr>
            <a:xfrm rot="-5400000">
              <a:off x="472785" y="891320"/>
              <a:ext cx="632850" cy="578997"/>
            </a:xfrm>
            <a:prstGeom prst="rtTriangl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grpSp>
        <p:nvGrpSpPr>
          <p:cNvPr id="107" name="Google Shape;107;p51"/>
          <p:cNvGrpSpPr/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08" name="Google Shape;108;p51"/>
            <p:cNvSpPr/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9" name="Google Shape;109;p51"/>
            <p:cNvSpPr/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10" name="Google Shape;110;p51"/>
          <p:cNvSpPr txBox="1"/>
          <p:nvPr>
            <p:ph type="title"/>
          </p:nvPr>
        </p:nvSpPr>
        <p:spPr>
          <a:xfrm>
            <a:off x="4756006" y="4084032"/>
            <a:ext cx="6903163" cy="204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78"/>
              </a:buClr>
              <a:buSzPts val="3200"/>
              <a:buFont typeface="Arial"/>
              <a:buNone/>
              <a:defRPr b="0">
                <a:solidFill>
                  <a:srgbClr val="00707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1"/>
          <p:cNvSpPr txBox="1"/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0A9"/>
              </a:buClr>
              <a:buSzPts val="5400"/>
              <a:buFont typeface="Arial"/>
              <a:buNone/>
            </a:pPr>
            <a:r>
              <a:rPr b="1" i="0" lang="zh-TW" sz="5400" u="none" cap="none" strike="noStrike">
                <a:solidFill>
                  <a:srgbClr val="00A0A9"/>
                </a:solidFill>
                <a:latin typeface="Arial"/>
                <a:ea typeface="Arial"/>
                <a:cs typeface="Arial"/>
                <a:sym typeface="Arial"/>
              </a:rPr>
              <a:t>明德資訊及通訊科技</a:t>
            </a:r>
            <a:endParaRPr b="1" i="0" sz="5400" u="none" cap="none" strike="noStrike">
              <a:solidFill>
                <a:srgbClr val="00A0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898909"/>
            <a:ext cx="4744800" cy="47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169" y="724908"/>
            <a:ext cx="5712455" cy="7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0448" y="2853016"/>
            <a:ext cx="5130272" cy="5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&amp;C_orange-HK" showMasterSp="0">
  <p:cSld name="A&amp;C_orange-H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7" name="Google Shape;117;p52"/>
          <p:cNvSpPr txBox="1"/>
          <p:nvPr>
            <p:ph idx="1" type="body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8" name="Google Shape;118;p52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52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2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1" name="Google Shape;121;p52"/>
          <p:cNvSpPr/>
          <p:nvPr>
            <p:ph idx="2" type="pic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&amp;C_green-HK" showMasterSp="0">
  <p:cSld name="A&amp;C_green-H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4" name="Google Shape;124;p53"/>
          <p:cNvSpPr txBox="1"/>
          <p:nvPr>
            <p:ph idx="1" type="body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5" name="Google Shape;125;p53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3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8" name="Google Shape;128;p53"/>
          <p:cNvSpPr/>
          <p:nvPr>
            <p:ph idx="2" type="pic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&amp;C_red-HK" showMasterSp="0">
  <p:cSld name="A&amp;C_red-H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1" name="Google Shape;131;p54"/>
          <p:cNvSpPr txBox="1"/>
          <p:nvPr>
            <p:ph idx="1" type="body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2" name="Google Shape;132;p54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4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5" name="Google Shape;135;p54"/>
          <p:cNvSpPr/>
          <p:nvPr>
            <p:ph idx="2" type="pic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&amp;C_cyan-HK" showMasterSp="0">
  <p:cSld name="A&amp;C_cyan-H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8" name="Google Shape;138;p55"/>
          <p:cNvSpPr txBox="1"/>
          <p:nvPr>
            <p:ph idx="1" type="body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9" name="Google Shape;139;p55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5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2" name="Google Shape;142;p55"/>
          <p:cNvSpPr/>
          <p:nvPr>
            <p:ph idx="2" type="pic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orange">
  <p:cSld name="Content_orang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6"/>
          <p:cNvSpPr/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fmla="val 0" name="adj1"/>
              <a:gd fmla="val 24507" name="adj2"/>
            </a:avLst>
          </a:prstGeom>
          <a:solidFill>
            <a:srgbClr val="C26A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5" name="Google Shape;145;p56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6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6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56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9" name="Google Shape;149;p56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0" name="Google Shape;150;p56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green">
  <p:cSld name="Content_gree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7"/>
          <p:cNvSpPr/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fmla="val 0" name="adj1"/>
              <a:gd fmla="val 24507" name="adj2"/>
            </a:avLst>
          </a:prstGeom>
          <a:solidFill>
            <a:srgbClr val="0078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3" name="Google Shape;153;p57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57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7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7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7" name="Google Shape;157;p57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8" name="Google Shape;158;p57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red">
  <p:cSld name="Content_red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8"/>
          <p:cNvSpPr/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fmla="val 0" name="adj1"/>
              <a:gd fmla="val 24507" name="adj2"/>
            </a:avLst>
          </a:prstGeom>
          <a:solidFill>
            <a:srgbClr val="B7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1" name="Google Shape;161;p58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8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58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8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5" name="Google Shape;165;p58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66" name="Google Shape;166;p58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cyan">
  <p:cSld name="Content_cya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9"/>
          <p:cNvSpPr/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fmla="val 0" name="adj1"/>
              <a:gd fmla="val 24507" name="adj2"/>
            </a:avLst>
          </a:prstGeom>
          <a:solidFill>
            <a:srgbClr val="3F82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9" name="Google Shape;169;p59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59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9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59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3" name="Google Shape;173;p59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74" name="Google Shape;174;p59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b-HK" showMasterSp="0">
  <p:cSld name="Lab-HK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7" name="Google Shape;177;p60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400"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78" name="Google Shape;178;p60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60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60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1" name="Google Shape;181;p60"/>
          <p:cNvSpPr txBox="1"/>
          <p:nvPr>
            <p:ph idx="2" type="body"/>
          </p:nvPr>
        </p:nvSpPr>
        <p:spPr>
          <a:xfrm>
            <a:off x="2743839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  <a:defRPr b="1" sz="2000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sconception">
  <p:cSld name="misconception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1875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1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61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61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7" name="Google Shape;187;p61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3866"/>
              </a:buClr>
              <a:buSzPts val="3200"/>
              <a:buFont typeface="Arial"/>
              <a:buNone/>
            </a:pPr>
            <a:r>
              <a:rPr b="0" i="0" lang="zh-TW" sz="3200" u="none" cap="none" strike="noStrike">
                <a:solidFill>
                  <a:srgbClr val="D83866"/>
                </a:solidFill>
                <a:latin typeface="Arial"/>
                <a:ea typeface="Arial"/>
                <a:cs typeface="Arial"/>
                <a:sym typeface="Arial"/>
              </a:rPr>
              <a:t>常見錯誤</a:t>
            </a:r>
            <a:endParaRPr b="0" i="0" sz="3200" u="none" cap="none" strike="noStrike">
              <a:solidFill>
                <a:srgbClr val="D838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1"/>
          <p:cNvSpPr txBox="1"/>
          <p:nvPr>
            <p:ph idx="1" type="body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89" name="Google Shape;189;p61"/>
          <p:cNvSpPr txBox="1"/>
          <p:nvPr>
            <p:ph idx="2" type="body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ink about">
  <p:cSld name="think abou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1875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2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62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62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5" name="Google Shape;195;p62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3866"/>
              </a:buClr>
              <a:buSzPts val="3200"/>
              <a:buFont typeface="Arial"/>
              <a:buNone/>
            </a:pPr>
            <a:r>
              <a:rPr b="0" i="0" lang="zh-TW" sz="3200" u="none" cap="none" strike="noStrike">
                <a:solidFill>
                  <a:srgbClr val="D83866"/>
                </a:solidFill>
                <a:latin typeface="Arial"/>
                <a:ea typeface="Arial"/>
                <a:cs typeface="Arial"/>
                <a:sym typeface="Arial"/>
              </a:rPr>
              <a:t>試想想</a:t>
            </a:r>
            <a:endParaRPr b="0" i="0" sz="3200" u="none" cap="none" strike="noStrike">
              <a:solidFill>
                <a:srgbClr val="D838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2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p">
  <p:cSld name="tip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4923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3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63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6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2" name="Google Shape;202;p63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AD40"/>
              </a:buClr>
              <a:buSzPts val="3200"/>
              <a:buFont typeface="Arial"/>
              <a:buNone/>
            </a:pPr>
            <a:r>
              <a:rPr b="0" i="0" lang="zh-TW" sz="3200" u="none" cap="none" strike="noStrike">
                <a:solidFill>
                  <a:srgbClr val="84AD40"/>
                </a:solidFill>
                <a:latin typeface="Arial"/>
                <a:ea typeface="Arial"/>
                <a:cs typeface="Arial"/>
                <a:sym typeface="Arial"/>
              </a:rPr>
              <a:t>提示</a:t>
            </a:r>
            <a:endParaRPr b="0" i="0" sz="3200" u="none" cap="none" strike="noStrike">
              <a:solidFill>
                <a:srgbClr val="84AD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3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richment">
  <p:cSld name="enrichmen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4923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4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64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6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9" name="Google Shape;209;p64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B3"/>
              </a:buClr>
              <a:buSzPts val="3200"/>
              <a:buFont typeface="Arial"/>
              <a:buNone/>
            </a:pPr>
            <a:r>
              <a:rPr b="0" i="0" lang="zh-TW" sz="3200" u="none" cap="none" strike="noStrike">
                <a:solidFill>
                  <a:srgbClr val="7570B3"/>
                </a:solidFill>
                <a:latin typeface="Arial"/>
                <a:ea typeface="Arial"/>
                <a:cs typeface="Arial"/>
                <a:sym typeface="Arial"/>
              </a:rPr>
              <a:t>擴闊視野</a:t>
            </a:r>
            <a:endParaRPr b="0" i="0" sz="3200" u="none" cap="none" strike="noStrike">
              <a:solidFill>
                <a:srgbClr val="7570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4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storical note">
  <p:cSld name="historical note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1875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5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65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6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6" name="Google Shape;216;p65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B3"/>
              </a:buClr>
              <a:buSzPts val="3200"/>
              <a:buFont typeface="Arial"/>
              <a:buNone/>
            </a:pPr>
            <a:r>
              <a:rPr b="0" i="0" lang="zh-TW" sz="3200" u="none" cap="none" strike="noStrike">
                <a:solidFill>
                  <a:srgbClr val="7570B3"/>
                </a:solidFill>
                <a:latin typeface="Arial"/>
                <a:ea typeface="Arial"/>
                <a:cs typeface="Arial"/>
                <a:sym typeface="Arial"/>
              </a:rPr>
              <a:t>古往今來</a:t>
            </a:r>
            <a:endParaRPr b="0" i="0" sz="3200" u="none" cap="none" strike="noStrike">
              <a:solidFill>
                <a:srgbClr val="7570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5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AM+">
  <p:cSld name="STEAM+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1875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6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66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66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3" name="Google Shape;223;p66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0B3"/>
              </a:buClr>
              <a:buSzPts val="3200"/>
              <a:buFont typeface="Open Sans"/>
              <a:buNone/>
            </a:pPr>
            <a:r>
              <a:rPr b="1" i="1" lang="zh-TW" sz="3200" u="none" cap="none" strike="noStrike">
                <a:solidFill>
                  <a:srgbClr val="7570B3"/>
                </a:solidFill>
                <a:latin typeface="Open Sans"/>
                <a:ea typeface="Open Sans"/>
                <a:cs typeface="Open Sans"/>
                <a:sym typeface="Open Sans"/>
              </a:rPr>
              <a:t>STEAM+</a:t>
            </a:r>
            <a:endParaRPr/>
          </a:p>
        </p:txBody>
      </p:sp>
      <p:sp>
        <p:nvSpPr>
          <p:cNvPr id="224" name="Google Shape;224;p66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">
  <p:cSld name="resource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6925" y="363600"/>
            <a:ext cx="1264923" cy="126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67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67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67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0" name="Google Shape;230;p67"/>
          <p:cNvSpPr txBox="1"/>
          <p:nvPr/>
        </p:nvSpPr>
        <p:spPr>
          <a:xfrm>
            <a:off x="1693718" y="363600"/>
            <a:ext cx="9660082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6993D"/>
              </a:buClr>
              <a:buSzPts val="3200"/>
              <a:buFont typeface="Arial"/>
              <a:buNone/>
            </a:pPr>
            <a:r>
              <a:rPr b="0" i="0" lang="zh-TW" sz="3200" u="none" cap="none" strike="noStrike">
                <a:solidFill>
                  <a:srgbClr val="C6993D"/>
                </a:solidFill>
                <a:latin typeface="Arial"/>
                <a:ea typeface="Arial"/>
                <a:cs typeface="Arial"/>
                <a:sym typeface="Arial"/>
              </a:rPr>
              <a:t>網上資源</a:t>
            </a:r>
            <a:endParaRPr b="0" i="0" sz="3200" u="none" cap="none" strike="noStrike">
              <a:solidFill>
                <a:srgbClr val="C699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7"/>
          <p:cNvSpPr txBox="1"/>
          <p:nvPr>
            <p:ph idx="1" type="body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32" name="Google Shape;232;p67"/>
          <p:cNvSpPr/>
          <p:nvPr>
            <p:ph idx="2" type="pic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1">
  <p:cSld name="Blank-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8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68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68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2" showMasterSp="0">
  <p:cSld name="Blank-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40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40"/>
          <p:cNvSpPr txBox="1"/>
          <p:nvPr>
            <p:ph idx="10" type="dt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40"/>
          <p:cNvSpPr txBox="1"/>
          <p:nvPr>
            <p:ph idx="11" type="ftr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40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" name="Google Shape;11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5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6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"/>
          <p:cNvSpPr txBox="1"/>
          <p:nvPr>
            <p:ph type="title"/>
          </p:nvPr>
        </p:nvSpPr>
        <p:spPr>
          <a:xfrm>
            <a:off x="4756006" y="4084032"/>
            <a:ext cx="6903163" cy="204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78"/>
              </a:buClr>
              <a:buSzPts val="3200"/>
              <a:buFont typeface="Arial"/>
              <a:buNone/>
            </a:pPr>
            <a:r>
              <a:rPr lang="zh-TW"/>
              <a:t>第二課</a:t>
            </a:r>
            <a:br>
              <a:rPr lang="zh-TW"/>
            </a:br>
            <a:r>
              <a:rPr lang="zh-TW"/>
              <a:t>互聯網協定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"/>
          <p:cNvSpPr txBox="1"/>
          <p:nvPr>
            <p:ph idx="1" type="body"/>
          </p:nvPr>
        </p:nvSpPr>
        <p:spPr>
          <a:xfrm>
            <a:off x="5714677" y="2807560"/>
            <a:ext cx="5655598" cy="2150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HTTP 狀態信息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你有試過在瀏覽網頁時，發現網頁瀏覽器顯示出「 404 找不到網頁」等錯誤信息嗎？你知道這些數字代表什麼嗎？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48" name="Google Shape;248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943" r="5942" t="0"/>
          <a:stretch/>
        </p:blipFill>
        <p:spPr>
          <a:xfrm>
            <a:off x="838201" y="2352599"/>
            <a:ext cx="4680000" cy="3059999"/>
          </a:xfrm>
          <a:prstGeom prst="rect">
            <a:avLst/>
          </a:prstGeom>
          <a:noFill/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傳輸控制協定 / 互聯網協定（TCP/IP）</a:t>
            </a:r>
            <a:endParaRPr/>
          </a:p>
        </p:txBody>
      </p:sp>
      <p:sp>
        <p:nvSpPr>
          <p:cNvPr id="254" name="Google Shape;254;p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5" name="Google Shape;255;p3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2.1</a:t>
            </a:r>
            <a:endParaRPr/>
          </a:p>
        </p:txBody>
      </p:sp>
      <p:sp>
        <p:nvSpPr>
          <p:cNvPr id="256" name="Google Shape;256;p3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網絡上的所有通訊活動都受協定規管。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A96"/>
              </a:buClr>
              <a:buSzPts val="2500"/>
              <a:buNone/>
            </a:pPr>
            <a:r>
              <a:rPr lang="zh-TW">
                <a:solidFill>
                  <a:srgbClr val="595A96"/>
                </a:solidFill>
                <a:latin typeface="Arial"/>
                <a:ea typeface="Arial"/>
                <a:cs typeface="Arial"/>
                <a:sym typeface="Arial"/>
              </a:rPr>
              <a:t>協定</a:t>
            </a:r>
            <a:r>
              <a:rPr lang="zh-TW"/>
              <a:t>是一組規則，指定了裝置之間發送與接收數據的格式和順序。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2" name="Google Shape;262;p4"/>
          <p:cNvSpPr txBox="1"/>
          <p:nvPr>
            <p:ph idx="1" type="body"/>
          </p:nvPr>
        </p:nvSpPr>
        <p:spPr>
          <a:xfrm>
            <a:off x="838800" y="1609200"/>
            <a:ext cx="537253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如果你想問其他人「現在幾點」，你會怎麼做？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必須以一種共通語言（如英文）與他人溝通，以便互相理解。</a:t>
            </a:r>
            <a:endParaRPr/>
          </a:p>
        </p:txBody>
      </p:sp>
      <p:pic>
        <p:nvPicPr>
          <p:cNvPr id="263" name="Google Shape;2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3222" y="1708984"/>
            <a:ext cx="5013362" cy="4135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傳輸控制協定 / 互聯網協定（TCP/IP）</a:t>
            </a:r>
            <a:endParaRPr/>
          </a:p>
        </p:txBody>
      </p:sp>
      <p:sp>
        <p:nvSpPr>
          <p:cNvPr id="269" name="Google Shape;269;p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0" name="Google Shape;270;p5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2.1</a:t>
            </a:r>
            <a:endParaRPr/>
          </a:p>
        </p:txBody>
      </p:sp>
      <p:sp>
        <p:nvSpPr>
          <p:cNvPr id="271" name="Google Shape;271;p5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A96"/>
              </a:buClr>
              <a:buSzPts val="2500"/>
              <a:buNone/>
            </a:pP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傳輸控制協定（TCP）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和</a:t>
            </a: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互聯網協定 / 網絡協定（IP）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，亦俗稱 TCP/IP，是互聯網上最為重要的其中兩個協定，用於指定處理數據的方式。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lang="zh-TW">
                <a:latin typeface="Twentieth Century"/>
                <a:ea typeface="Twentieth Century"/>
                <a:cs typeface="Twentieth Century"/>
                <a:sym typeface="Twentieth Century"/>
              </a:rPr>
              <a:t>TCP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 將數據分成更小的數據包，以提高傳輸數據效率。加上編號的數據包會在到達目的地後被重新組裝。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lang="zh-TW">
                <a:latin typeface="Twentieth Century"/>
                <a:ea typeface="Twentieth Century"/>
                <a:cs typeface="Twentieth Century"/>
                <a:sym typeface="Twentieth Century"/>
              </a:rPr>
              <a:t>IP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 則負責數據包的實際傳輸，為每個數據包添加目的地位址，並選擇前往該目的地的最佳路徑。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傳輸控制協定 / 互聯網協定（TCP/IP）</a:t>
            </a:r>
            <a:endParaRPr/>
          </a:p>
        </p:txBody>
      </p:sp>
      <p:sp>
        <p:nvSpPr>
          <p:cNvPr id="277" name="Google Shape;277;p6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8" name="Google Shape;278;p6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2.1</a:t>
            </a:r>
            <a:endParaRPr/>
          </a:p>
        </p:txBody>
      </p:sp>
      <p:sp>
        <p:nvSpPr>
          <p:cNvPr id="279" name="Google Shape;279;p6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TCP/IP 傳輸的數據：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80" name="Google Shape;2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973" y="2025933"/>
            <a:ext cx="10157254" cy="3846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透過互聯網發送文字信息時，數據通常是如何傳輸的？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數據將被分割為數個數據包，並透過單一的路徑發送。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數據將被加密，並透過單一的路徑發送。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數據將被分割為數個數據包，並透過不同的路徑發送。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數據將被加密，並透過不同的路徑發送。</a:t>
            </a: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6" name="Google Shape;286;p7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7" name="Google Shape;287;p7"/>
          <p:cNvSpPr txBox="1"/>
          <p:nvPr>
            <p:ph idx="2" type="body"/>
          </p:nvPr>
        </p:nvSpPr>
        <p:spPr>
          <a:xfrm>
            <a:off x="276379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2.1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傳輸控制協定 / 互聯網協定（TCP/IP）</a:t>
            </a:r>
            <a:endParaRPr/>
          </a:p>
        </p:txBody>
      </p:sp>
      <p:sp>
        <p:nvSpPr>
          <p:cNvPr id="293" name="Google Shape;293;p8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4" name="Google Shape;294;p8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2.1</a:t>
            </a:r>
            <a:endParaRPr/>
          </a:p>
        </p:txBody>
      </p:sp>
      <p:sp>
        <p:nvSpPr>
          <p:cNvPr id="295" name="Google Shape;295;p8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當數據由一部裝置經網絡 / 互聯網發送至另一部裝置，會經過以下的</a:t>
            </a: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五層 TCP/IP 協定疊</a:t>
            </a:r>
            <a:r>
              <a:rPr lang="zh-TW"/>
              <a:t>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（發件人）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應用層 🡪 傳輸層 🡪 網絡層 🡪 數據鏈路層 🡪 實體層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應用層 🡨 傳輸層 🡨 網絡層 🡨 數據鏈路層 🡨 實體層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（收件者）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互聯網協定（IP）位址</a:t>
            </a:r>
            <a:endParaRPr/>
          </a:p>
        </p:txBody>
      </p:sp>
      <p:sp>
        <p:nvSpPr>
          <p:cNvPr id="301" name="Google Shape;301;p9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2" name="Google Shape;302;p9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2.2</a:t>
            </a:r>
            <a:endParaRPr/>
          </a:p>
        </p:txBody>
      </p:sp>
      <p:sp>
        <p:nvSpPr>
          <p:cNvPr id="303" name="Google Shape;303;p9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A96"/>
              </a:buClr>
              <a:buSzPts val="2500"/>
              <a:buNone/>
            </a:pPr>
            <a:r>
              <a:rPr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互聯網協定位址 / 地址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是可更改的數字位址，用以識別在同一通訊協定（TCP/IP）裏的個別裝置。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當裝置連接到互聯網時，</a:t>
            </a: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互聯網名稱與數字地址分配機構（ICANN）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將透過互聯網服務供應商為用戶分配 IP 位址。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04" name="Google Shape;3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6577" y="4018569"/>
            <a:ext cx="3360045" cy="2270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互聯網協定版本 4（IPv4）</a:t>
            </a:r>
            <a:endParaRPr/>
          </a:p>
        </p:txBody>
      </p:sp>
      <p:sp>
        <p:nvSpPr>
          <p:cNvPr id="310" name="Google Shape;310;p10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11" name="Google Shape;311;p10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312" name="Google Shape;312;p10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IPv4 位址是一個 32 位元數字位址，由四個 8 位元數字組成，該 8 位元數字又稱為「八位元組（octet）」，並以句號點（「 . 」）分隔。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IPv4 位址（通常以十進制形式表達）的範圍是從 0.0.0.0 到 255.255.255.255。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13" name="Google Shape;3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1919" y="2950804"/>
            <a:ext cx="6329362" cy="3440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互聯網協定版本 6（IPv6）</a:t>
            </a:r>
            <a:endParaRPr/>
          </a:p>
        </p:txBody>
      </p:sp>
      <p:sp>
        <p:nvSpPr>
          <p:cNvPr id="319" name="Google Shape;319;p11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0" name="Google Shape;320;p11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321" name="Google Shape;321;p11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IPv6 位址是一個 128 位元的數字位址，由八個 16 位元的數字組成，以冒號（「 : 」）分隔。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IPv6 位址（通常以十六進制形式表達）的範圍是從 0:0:0:0:0:0:0:0 到 FFFF:FFFF:FFFF:FFFF:FFFF:FFFF:FFFF:FFFF。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22" name="Google Shape;3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5611" y="3071672"/>
            <a:ext cx="8401978" cy="3319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AutoNum type="arabi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以下哪項 / 些可用於識別互聯網上的裝置？</a:t>
            </a:r>
            <a:b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</a:b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2" marL="12573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arenBoth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裝置名稱</a:t>
            </a: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2" marL="12573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arenBoth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產品識別號碼</a:t>
            </a: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2" marL="12573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arenBoth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IP 位址</a:t>
            </a:r>
            <a:b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</a:b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只有 (1)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只有 (3)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只有 (1) 和 (2)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只有 (2) 和 (3)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8" name="Google Shape;328;p12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9" name="Google Shape;329;p12"/>
          <p:cNvSpPr txBox="1"/>
          <p:nvPr>
            <p:ph idx="2" type="body"/>
          </p:nvPr>
        </p:nvSpPr>
        <p:spPr>
          <a:xfrm>
            <a:off x="276379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2.2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AutoNum type="arabicPeriod" startAt="2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IPv4 位址是由四組 8 位元數字組成的，並以句點（「 . 」）隔開。此 IP 編址格式中存在多少個可能的位址？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2</a:t>
            </a:r>
            <a:r>
              <a:rPr baseline="30000"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128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4</a:t>
            </a:r>
            <a:r>
              <a:rPr baseline="30000"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8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16</a:t>
            </a:r>
            <a:r>
              <a:rPr baseline="30000"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8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32</a:t>
            </a:r>
            <a:r>
              <a:rPr baseline="30000"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2</a:t>
            </a:r>
            <a:endParaRPr baseline="30000"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5" name="Google Shape;335;p1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6" name="Google Shape;336;p13"/>
          <p:cNvSpPr txBox="1"/>
          <p:nvPr>
            <p:ph idx="2" type="body"/>
          </p:nvPr>
        </p:nvSpPr>
        <p:spPr>
          <a:xfrm>
            <a:off x="276379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2.2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網域名稱系統（DNS）</a:t>
            </a:r>
            <a:endParaRPr/>
          </a:p>
        </p:txBody>
      </p:sp>
      <p:sp>
        <p:nvSpPr>
          <p:cNvPr id="342" name="Google Shape;342;p1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43" name="Google Shape;343;p14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2.3</a:t>
            </a:r>
            <a:endParaRPr/>
          </a:p>
        </p:txBody>
      </p:sp>
      <p:sp>
        <p:nvSpPr>
          <p:cNvPr id="344" name="Google Shape;344;p14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要記住一個網站的 IP 位址十分困難。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因此我們瀏覽互聯網時，通常會採用有意義的名稱，亦即</a:t>
            </a:r>
            <a:r>
              <a:rPr lang="zh-TW">
                <a:solidFill>
                  <a:srgbClr val="595A96"/>
                </a:solidFill>
                <a:latin typeface="Arial"/>
                <a:ea typeface="Arial"/>
                <a:cs typeface="Arial"/>
                <a:sym typeface="Arial"/>
              </a:rPr>
              <a:t>網域名稱 / 網域 / 域名</a:t>
            </a:r>
            <a:r>
              <a:rPr lang="zh-TW"/>
              <a:t>。</a:t>
            </a:r>
            <a:endParaRPr/>
          </a:p>
        </p:txBody>
      </p:sp>
      <p:pic>
        <p:nvPicPr>
          <p:cNvPr id="345" name="Google Shape;3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6831" y="3396589"/>
            <a:ext cx="4719538" cy="2703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網域名稱系統（DNS）</a:t>
            </a:r>
            <a:endParaRPr/>
          </a:p>
        </p:txBody>
      </p:sp>
      <p:sp>
        <p:nvSpPr>
          <p:cNvPr id="351" name="Google Shape;351;p1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52" name="Google Shape;352;p15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2.3</a:t>
            </a:r>
            <a:endParaRPr/>
          </a:p>
        </p:txBody>
      </p:sp>
      <p:sp>
        <p:nvSpPr>
          <p:cNvPr id="353" name="Google Shape;353;p15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A96"/>
              </a:buClr>
              <a:buSzPts val="2500"/>
              <a:buNone/>
            </a:pP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完整域名（FQDN）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包含了</a:t>
            </a: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域名系統（DNS）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分級裏的所有域級。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每個域級都以句點（「 . 」）作分隔。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54" name="Google Shape;3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4040" y="2803298"/>
            <a:ext cx="5325119" cy="3283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網域名稱系統（DNS）</a:t>
            </a:r>
            <a:endParaRPr/>
          </a:p>
        </p:txBody>
      </p:sp>
      <p:sp>
        <p:nvSpPr>
          <p:cNvPr id="360" name="Google Shape;360;p16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61" name="Google Shape;361;p16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2.3</a:t>
            </a:r>
            <a:endParaRPr/>
          </a:p>
        </p:txBody>
      </p:sp>
      <p:sp>
        <p:nvSpPr>
          <p:cNvPr id="362" name="Google Shape;362;p16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以下是域名系統的分級：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363" name="Google Shape;3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8225" y="2238999"/>
            <a:ext cx="7956749" cy="3863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網域名稱系統（DNS）</a:t>
            </a:r>
            <a:endParaRPr/>
          </a:p>
        </p:txBody>
      </p:sp>
      <p:sp>
        <p:nvSpPr>
          <p:cNvPr id="369" name="Google Shape;369;p17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0" name="Google Shape;370;p17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2.3</a:t>
            </a:r>
            <a:endParaRPr/>
          </a:p>
        </p:txBody>
      </p:sp>
      <p:sp>
        <p:nvSpPr>
          <p:cNvPr id="371" name="Google Shape;371;p17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最右的名稱是</a:t>
            </a: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頂級域名（TLD）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，它可以是按照組織類型的</a:t>
            </a: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通用頂級域名（gTLD）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，或按照伺服器所在國家或地區的</a:t>
            </a: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地區頂級域名（ccTLD）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。</a:t>
            </a:r>
            <a:endParaRPr/>
          </a:p>
        </p:txBody>
      </p:sp>
      <p:pic>
        <p:nvPicPr>
          <p:cNvPr id="372" name="Google Shape;3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8354" y="2778584"/>
            <a:ext cx="9556492" cy="2725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網域名稱系統（DNS）</a:t>
            </a:r>
            <a:endParaRPr/>
          </a:p>
        </p:txBody>
      </p:sp>
      <p:sp>
        <p:nvSpPr>
          <p:cNvPr id="378" name="Google Shape;378;p18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9" name="Google Shape;379;p18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2.3</a:t>
            </a:r>
            <a:endParaRPr/>
          </a:p>
        </p:txBody>
      </p:sp>
      <p:sp>
        <p:nvSpPr>
          <p:cNvPr id="380" name="Google Shape;380;p18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A96"/>
              </a:buClr>
              <a:buSzPts val="2500"/>
              <a:buNone/>
            </a:pPr>
            <a:r>
              <a:rPr lang="zh-TW">
                <a:solidFill>
                  <a:srgbClr val="595A96"/>
                </a:solidFill>
                <a:latin typeface="Arial"/>
                <a:ea typeface="Arial"/>
                <a:cs typeface="Arial"/>
                <a:sym typeface="Arial"/>
              </a:rPr>
              <a:t>域名系統伺服器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用於將網域名稱（文字）轉換為 IP 位址（數字），此過程稱為「域名解析」。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DNS 伺服器的位置會以 IP位址表示，通常由互聯網服務供應商所提供。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81" name="Google Shape;3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5643" y="2638326"/>
            <a:ext cx="6641913" cy="1740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AutoNum type="arabi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允行將為他的新補習學校設立一個網站，使顧客可經下列任何一個連結存取網站：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2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web.getfivestarstar.edu.hk </a:t>
            </a:r>
            <a:b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www.getfivestarstar.hk </a:t>
            </a:r>
            <a:b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www.getfivestarstar.com </a:t>
            </a:r>
            <a:b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web.getfivestarstar.com </a:t>
            </a:r>
            <a:b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www.getfivestarstar.edu.hk</a:t>
            </a:r>
            <a:endParaRPr/>
          </a:p>
          <a:p>
            <a:pPr indent="0" lvl="2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他需要註冊多少個域名？</a:t>
            </a: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7" name="Google Shape;387;p19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8" name="Google Shape;388;p19"/>
          <p:cNvSpPr txBox="1"/>
          <p:nvPr>
            <p:ph idx="2" type="body"/>
          </p:nvPr>
        </p:nvSpPr>
        <p:spPr>
          <a:xfrm>
            <a:off x="246934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2.1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 txBox="1"/>
          <p:nvPr>
            <p:ph idx="1" type="body"/>
          </p:nvPr>
        </p:nvSpPr>
        <p:spPr>
          <a:xfrm>
            <a:off x="838200" y="1352984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A3D4"/>
              </a:buClr>
              <a:buSzPts val="2000"/>
              <a:buFont typeface="Arial"/>
              <a:buChar char="◣"/>
            </a:pPr>
            <a:r>
              <a:rPr b="1" lang="zh-TW">
                <a:solidFill>
                  <a:srgbClr val="37A3D4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分析</a:t>
            </a:r>
            <a:br>
              <a:rPr b="1" lang="zh-TW">
                <a:solidFill>
                  <a:srgbClr val="37A3D4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br>
              <a:rPr b="1" lang="zh-TW">
                <a:solidFill>
                  <a:srgbClr val="37A3D4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br>
              <a:rPr b="1" lang="zh-TW">
                <a:solidFill>
                  <a:srgbClr val="37A3D4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br>
              <a:rPr b="1" lang="zh-TW">
                <a:solidFill>
                  <a:srgbClr val="37A3D4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br>
              <a:rPr b="1" lang="zh-TW">
                <a:solidFill>
                  <a:srgbClr val="37A3D4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br>
              <a:rPr b="1" lang="zh-TW">
                <a:solidFill>
                  <a:srgbClr val="37A3D4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endParaRPr b="1">
              <a:solidFill>
                <a:srgbClr val="37A3D4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15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>
              <a:solidFill>
                <a:srgbClr val="37A3D4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15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>
              <a:solidFill>
                <a:srgbClr val="37A3D4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7A3D4"/>
              </a:buClr>
              <a:buSzPts val="2000"/>
              <a:buFont typeface="Arial"/>
              <a:buChar char="◣"/>
            </a:pPr>
            <a:r>
              <a:rPr b="1" lang="zh-TW">
                <a:solidFill>
                  <a:srgbClr val="37A3D4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答案</a:t>
            </a:r>
            <a:endParaRPr b="1">
              <a:solidFill>
                <a:srgbClr val="37A3D4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允行一共需要註冊 3 個網域名稱，即「getfivestarstar.edu.hk」、「getfivestarstar.hk」和「getfivestarstar.com」。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4" name="Google Shape;394;p20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95" name="Google Shape;395;p20"/>
          <p:cNvSpPr txBox="1"/>
          <p:nvPr>
            <p:ph idx="2" type="body"/>
          </p:nvPr>
        </p:nvSpPr>
        <p:spPr>
          <a:xfrm>
            <a:off x="246934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2.1</a:t>
            </a:r>
            <a:endParaRPr/>
          </a:p>
        </p:txBody>
      </p:sp>
      <p:pic>
        <p:nvPicPr>
          <p:cNvPr id="396" name="Google Shape;3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2892" y="1819739"/>
            <a:ext cx="4805125" cy="3022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思賢無法透過輸入劃一資源定位（URL）來瀏覽教育局的網站，但卻能透過輸入其 IP 位址來瀏覽。為什麼？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網域名稱系統（DNS）伺服器已停用。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相應的網頁不在網絡伺服器中。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路由器故障。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網頁瀏覽器尚未安裝額外插件。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2" name="Google Shape;402;p21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03" name="Google Shape;403;p21"/>
          <p:cNvSpPr txBox="1"/>
          <p:nvPr>
            <p:ph idx="2" type="body"/>
          </p:nvPr>
        </p:nvSpPr>
        <p:spPr>
          <a:xfrm>
            <a:off x="276379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2.3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劃一資源定位（URL）</a:t>
            </a:r>
            <a:endParaRPr/>
          </a:p>
        </p:txBody>
      </p:sp>
      <p:sp>
        <p:nvSpPr>
          <p:cNvPr id="409" name="Google Shape;409;p22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10" name="Google Shape;410;p22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2.4</a:t>
            </a:r>
            <a:endParaRPr/>
          </a:p>
        </p:txBody>
      </p:sp>
      <p:sp>
        <p:nvSpPr>
          <p:cNvPr id="411" name="Google Shape;411;p22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劃一資源定位（URL）用於識別資源（例如網頁、圖像、檔案或影片）在互聯網上的位置。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12" name="Google Shape;4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4800" y="2669451"/>
            <a:ext cx="9547654" cy="2397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網絡協定</a:t>
            </a:r>
            <a:endParaRPr/>
          </a:p>
        </p:txBody>
      </p:sp>
      <p:sp>
        <p:nvSpPr>
          <p:cNvPr id="418" name="Google Shape;418;p2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19" name="Google Shape;419;p23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420" name="Google Shape;420;p23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網絡協定是一套網絡通訊規則。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客戶應用程式和伺服器都應遵從相同的規則以建立連接。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完整域名 / IP 位址</a:t>
            </a:r>
            <a:endParaRPr/>
          </a:p>
        </p:txBody>
      </p:sp>
      <p:sp>
        <p:nvSpPr>
          <p:cNvPr id="426" name="Google Shape;426;p2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7" name="Google Shape;427;p24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428" name="Google Shape;428;p24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完整域名 / IP 位址是網絡中一台主機的獨特標識。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埠號碼</a:t>
            </a:r>
            <a:endParaRPr/>
          </a:p>
        </p:txBody>
      </p:sp>
      <p:sp>
        <p:nvSpPr>
          <p:cNvPr id="434" name="Google Shape;434;p2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5" name="Google Shape;435;p25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C</a:t>
            </a:r>
            <a:endParaRPr/>
          </a:p>
        </p:txBody>
      </p:sp>
      <p:sp>
        <p:nvSpPr>
          <p:cNvPr id="436" name="Google Shape;436;p25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由於同一主機上可能同時有多個應用程式運行，因此需要埠號碼來識別指定應用程式。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6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42" name="Google Shape;442;p26"/>
          <p:cNvSpPr txBox="1"/>
          <p:nvPr>
            <p:ph idx="1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埠號碼與主機上運行的應用程式是互相關聯的，關係就像電話的內線號碼。</a:t>
            </a:r>
            <a:endParaRPr/>
          </a:p>
        </p:txBody>
      </p:sp>
      <p:pic>
        <p:nvPicPr>
          <p:cNvPr id="443" name="Google Shape;443;p26"/>
          <p:cNvPicPr preferRelativeResize="0"/>
          <p:nvPr/>
        </p:nvPicPr>
        <p:blipFill rotWithShape="1">
          <a:blip r:embed="rId3">
            <a:alphaModFix/>
          </a:blip>
          <a:srcRect b="0" l="0" r="1607" t="0"/>
          <a:stretch/>
        </p:blipFill>
        <p:spPr>
          <a:xfrm>
            <a:off x="3160777" y="2621113"/>
            <a:ext cx="5777278" cy="3263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路徑</a:t>
            </a:r>
            <a:endParaRPr/>
          </a:p>
        </p:txBody>
      </p:sp>
      <p:sp>
        <p:nvSpPr>
          <p:cNvPr id="449" name="Google Shape;449;p27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0" name="Google Shape;450;p27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D</a:t>
            </a:r>
            <a:endParaRPr/>
          </a:p>
        </p:txBody>
      </p:sp>
      <p:sp>
        <p:nvSpPr>
          <p:cNvPr id="451" name="Google Shape;451;p27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路徑是指主機根目錄上某指定資源的位置。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/about 是資料夾名稱，指名為「about」的資料夾。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 /network.html 是檔案名稱，指資料夾「about」內名為「network」的 HTML 檔案。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52" name="Google Shape;452;p27"/>
          <p:cNvPicPr preferRelativeResize="0"/>
          <p:nvPr/>
        </p:nvPicPr>
        <p:blipFill rotWithShape="1">
          <a:blip r:embed="rId3">
            <a:alphaModFix/>
          </a:blip>
          <a:srcRect b="80502" l="6883" r="0" t="1"/>
          <a:stretch/>
        </p:blipFill>
        <p:spPr>
          <a:xfrm>
            <a:off x="2414823" y="4384253"/>
            <a:ext cx="7363553" cy="360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 下圖是 </a:t>
            </a:r>
            <a:r>
              <a:rPr i="1" lang="zh-TW">
                <a:latin typeface="Twentieth Century"/>
                <a:ea typeface="Twentieth Century"/>
                <a:cs typeface="Twentieth Century"/>
                <a:sym typeface="Twentieth Century"/>
              </a:rPr>
              <a:t>www.ict.org.hk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 的資料夾結構其中一部分：</a:t>
            </a:r>
            <a:b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</a:br>
            <a:b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</a:br>
            <a:b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</a:br>
            <a:b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以下哪個 URL 是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無效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的？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AutoNum type="alphaU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http://www.ict.org.hk/en/q1.png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AutoNum type="alphaU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http://www.ict.org.hk/soln/hk/q1.png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AutoNum type="alphaU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http://www.ict.org.hk/hk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AutoNum type="alphaU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http://www.ict.org.hk/index.html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58" name="Google Shape;458;p28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9" name="Google Shape;459;p28"/>
          <p:cNvSpPr txBox="1"/>
          <p:nvPr>
            <p:ph idx="2" type="body"/>
          </p:nvPr>
        </p:nvSpPr>
        <p:spPr>
          <a:xfrm>
            <a:off x="276379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2.4</a:t>
            </a:r>
            <a:endParaRPr/>
          </a:p>
        </p:txBody>
      </p:sp>
      <p:pic>
        <p:nvPicPr>
          <p:cNvPr id="460" name="Google Shape;4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5176" y="2117124"/>
            <a:ext cx="4908624" cy="3839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9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/>
              <a:t>小美有多條連結可作存取不同資源之用，但她不清楚以下各條連結屬於哪個類別。為她配對各個位址與相應類別，並於空白格填上答案。</a:t>
            </a:r>
            <a:endParaRPr/>
          </a:p>
        </p:txBody>
      </p:sp>
      <p:sp>
        <p:nvSpPr>
          <p:cNvPr id="466" name="Google Shape;466;p29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67" name="Google Shape;467;p29"/>
          <p:cNvSpPr txBox="1"/>
          <p:nvPr>
            <p:ph idx="2" type="body"/>
          </p:nvPr>
        </p:nvSpPr>
        <p:spPr>
          <a:xfrm>
            <a:off x="2470901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2.1</a:t>
            </a:r>
            <a:endParaRPr/>
          </a:p>
        </p:txBody>
      </p:sp>
      <p:pic>
        <p:nvPicPr>
          <p:cNvPr id="468" name="Google Shape;4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9286" y="2282174"/>
            <a:ext cx="8997778" cy="588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8764" y="2911030"/>
            <a:ext cx="6498823" cy="32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1997" y="3344291"/>
            <a:ext cx="1428949" cy="381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1997" y="3840304"/>
            <a:ext cx="1428949" cy="381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1997" y="4345746"/>
            <a:ext cx="1428949" cy="381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0247" y="4795579"/>
            <a:ext cx="1428949" cy="381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0246" y="5274042"/>
            <a:ext cx="1428949" cy="381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1997" y="5752506"/>
            <a:ext cx="1428949" cy="381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0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網絡協定</a:t>
            </a:r>
            <a:endParaRPr/>
          </a:p>
        </p:txBody>
      </p:sp>
      <p:sp>
        <p:nvSpPr>
          <p:cNvPr id="481" name="Google Shape;481;p30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82" name="Google Shape;482;p30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2.5</a:t>
            </a:r>
            <a:endParaRPr/>
          </a:p>
        </p:txBody>
      </p:sp>
      <p:sp>
        <p:nvSpPr>
          <p:cNvPr id="483" name="Google Shape;483;p30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網絡協定亦有不同種類：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超文本傳輸協定（HTTP）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電郵協定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1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超文本傳輸協定（HTTP）</a:t>
            </a:r>
            <a:endParaRPr/>
          </a:p>
        </p:txBody>
      </p:sp>
      <p:sp>
        <p:nvSpPr>
          <p:cNvPr id="489" name="Google Shape;489;p31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90" name="Google Shape;490;p31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491" name="Google Shape;491;p31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A96"/>
              </a:buClr>
              <a:buSzPts val="2500"/>
              <a:buNone/>
            </a:pP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超文本傳輸協定（HTTP）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和超文本傳輸安全協定（HTTPS）是互聯網數據傳輸中最常用的兩個網絡應用協定。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HTTP 被萬維網（WWW）用於傳輸超文本文件（即網頁）。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92" name="Google Shape;49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8434" y="3001702"/>
            <a:ext cx="4016332" cy="3389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2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超文本傳輸協定（HTTP）</a:t>
            </a:r>
            <a:endParaRPr/>
          </a:p>
        </p:txBody>
      </p:sp>
      <p:sp>
        <p:nvSpPr>
          <p:cNvPr id="498" name="Google Shape;498;p32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99" name="Google Shape;499;p32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500" name="Google Shape;500;p32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HTTPS 是較 HTTP 保安更好的版本，使用了</a:t>
            </a: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保密插口層（SSL）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加密，此加密方式又稱傳輸層保安（TLS）加密。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SSL 會在傳輸過程中加密數據，以確保客戶端和伺服器之間通訊的保密性、可靠性和私隱性。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01" name="Google Shape;5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2905" y="4414778"/>
            <a:ext cx="5298589" cy="1515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3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為什麼我們在互聯進行網上銀行交易時，需要保密插口層（SSL）呢？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數據傳輸更快。</a:t>
            </a: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確保數據傳輸安全。</a:t>
            </a: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減少數據丟失。</a:t>
            </a: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lphaUcPeriod"/>
            </a:pPr>
            <a:r>
              <a:rPr lang="zh-TW" sz="2000">
                <a:latin typeface="Twentieth Century"/>
                <a:ea typeface="Twentieth Century"/>
                <a:cs typeface="Twentieth Century"/>
                <a:sym typeface="Twentieth Century"/>
              </a:rPr>
              <a:t>保護路由器電源的插座。</a:t>
            </a: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7" name="Google Shape;507;p33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8" name="Google Shape;508;p33"/>
          <p:cNvSpPr txBox="1"/>
          <p:nvPr>
            <p:ph idx="2" type="body"/>
          </p:nvPr>
        </p:nvSpPr>
        <p:spPr>
          <a:xfrm>
            <a:off x="276379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2.5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4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電郵協定</a:t>
            </a:r>
            <a:endParaRPr/>
          </a:p>
        </p:txBody>
      </p:sp>
      <p:sp>
        <p:nvSpPr>
          <p:cNvPr id="514" name="Google Shape;514;p34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15" name="Google Shape;515;p34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516" name="Google Shape;516;p34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A96"/>
              </a:buClr>
              <a:buSzPts val="2500"/>
              <a:buNone/>
            </a:pP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簡單郵遞傳送協定（SMTP）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用以向電郵伺服器傳送電子郵件。電郵伺服器還會依靠 SMTP 向不同的電郵伺服器分發電子郵件。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A96"/>
              </a:buClr>
              <a:buSzPts val="2500"/>
              <a:buNone/>
            </a:pP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網絡信息存取協定 / 接達協定 （IMAP）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和</a:t>
            </a:r>
            <a:r>
              <a:rPr b="1" lang="zh-TW">
                <a:solidFill>
                  <a:srgbClr val="595A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郵局協定第三版（POP3）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讓電郵客戶能在電郵伺服器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檢索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電子郵件信息。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17" name="Google Shape;5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303" y="4285866"/>
            <a:ext cx="8634594" cy="151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5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電子郵件存取協定</a:t>
            </a:r>
            <a:endParaRPr/>
          </a:p>
        </p:txBody>
      </p:sp>
      <p:sp>
        <p:nvSpPr>
          <p:cNvPr id="523" name="Google Shape;523;p35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4" name="Google Shape;524;p35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525" name="Google Shape;525;p35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POP3 電郵伺服器會為客戶提供一個在伺服器上的郵箱。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客戶能檢索所有在電郵伺服器裏的電子郵件，並將電子郵件下載至本機電腦。預設情況下，電郵下載到電腦後就會從伺服器中被</a:t>
            </a:r>
            <a:r>
              <a:rPr lang="zh-TW">
                <a:latin typeface="Arial"/>
                <a:ea typeface="Arial"/>
                <a:cs typeface="Arial"/>
                <a:sym typeface="Arial"/>
              </a:rPr>
              <a:t>刪除</a:t>
            </a: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，以釋放儲存空間。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26" name="Google Shape;52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0870" y="3733006"/>
            <a:ext cx="7051460" cy="2438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6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電子郵件存取協定</a:t>
            </a:r>
            <a:endParaRPr/>
          </a:p>
        </p:txBody>
      </p:sp>
      <p:sp>
        <p:nvSpPr>
          <p:cNvPr id="532" name="Google Shape;532;p36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33" name="Google Shape;533;p36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534" name="Google Shape;534;p36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在 IMAP 下，所有電子郵件都將保存在電郵伺服器中。IMAP 亦允許多個客戶存取同一郵箱。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用戶可以在不同已連接互聯網的電腦上閱讀、移動和刪除這些電子郵件。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35" name="Google Shape;53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9380" y="2084850"/>
            <a:ext cx="5154440" cy="3044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7"/>
          <p:cNvSpPr txBox="1"/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3200"/>
              <a:buFont typeface="Arial"/>
              <a:buNone/>
            </a:pPr>
            <a:r>
              <a:rPr lang="zh-TW"/>
              <a:t>電子郵件存取協定</a:t>
            </a:r>
            <a:endParaRPr/>
          </a:p>
        </p:txBody>
      </p:sp>
      <p:sp>
        <p:nvSpPr>
          <p:cNvPr id="541" name="Google Shape;541;p37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42" name="Google Shape;542;p37"/>
          <p:cNvSpPr txBox="1"/>
          <p:nvPr>
            <p:ph idx="1" type="body"/>
          </p:nvPr>
        </p:nvSpPr>
        <p:spPr>
          <a:xfrm>
            <a:off x="838800" y="684000"/>
            <a:ext cx="972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543" name="Google Shape;543;p37"/>
          <p:cNvSpPr txBox="1"/>
          <p:nvPr>
            <p:ph idx="2" type="body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以下是 POP3 與 IMAP 的對比：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44" name="Google Shape;54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3648" y="2540116"/>
            <a:ext cx="8245903" cy="3123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8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AutoNum type="arabi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試舉出兩個可以用作接收電子郵件的電郵協定，並列出其主要分別。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None/>
            </a:pPr>
            <a:r>
              <a:t/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>
              <a:solidFill>
                <a:srgbClr val="37A3D4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7A3D4"/>
              </a:buClr>
              <a:buSzPts val="2000"/>
              <a:buFont typeface="Arial"/>
              <a:buChar char="◣"/>
            </a:pPr>
            <a:r>
              <a:rPr b="1" lang="zh-TW">
                <a:solidFill>
                  <a:srgbClr val="37A3D4"/>
                </a:solidFill>
                <a:latin typeface="Arial"/>
                <a:ea typeface="Arial"/>
                <a:cs typeface="Arial"/>
                <a:sym typeface="Arial"/>
              </a:rPr>
              <a:t>答案</a:t>
            </a:r>
            <a:endParaRPr b="1">
              <a:solidFill>
                <a:srgbClr val="37A3D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POP3 和 IMAP。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IMAP 可讓電子郵件在多個裝置上同步，亦可讓用戶在伺服器上整理電子郵件。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50" name="Google Shape;550;p38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51" name="Google Shape;551;p38"/>
          <p:cNvSpPr txBox="1"/>
          <p:nvPr>
            <p:ph idx="2" type="body"/>
          </p:nvPr>
        </p:nvSpPr>
        <p:spPr>
          <a:xfrm>
            <a:off x="246934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2.2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AutoNum type="arabicPeriod"/>
            </a:pPr>
            <a:r>
              <a:rPr lang="zh-TW">
                <a:latin typeface="Twentieth Century"/>
                <a:ea typeface="Twentieth Century"/>
                <a:cs typeface="Twentieth Century"/>
                <a:sym typeface="Twentieth Century"/>
              </a:rPr>
              <a:t>在電子郵件系統中，匹配下列協定及其用途。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57" name="Google Shape;557;p39"/>
          <p:cNvSpPr txBox="1"/>
          <p:nvPr>
            <p:ph idx="12" type="sldNum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58" name="Google Shape;558;p39"/>
          <p:cNvSpPr txBox="1"/>
          <p:nvPr>
            <p:ph idx="2" type="body"/>
          </p:nvPr>
        </p:nvSpPr>
        <p:spPr>
          <a:xfrm>
            <a:off x="2763795" y="755092"/>
            <a:ext cx="864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500"/>
              <a:buNone/>
            </a:pPr>
            <a:r>
              <a:rPr lang="zh-TW"/>
              <a:t>2.6</a:t>
            </a:r>
            <a:endParaRPr/>
          </a:p>
        </p:txBody>
      </p:sp>
      <p:pic>
        <p:nvPicPr>
          <p:cNvPr id="559" name="Google Shape;55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5762" y="2842770"/>
            <a:ext cx="9160476" cy="2441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417" y="2718486"/>
            <a:ext cx="10352454" cy="269081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reflection blurRad="0" dir="0" dist="0" endA="0" endPos="0" kx="0" rotWithShape="0" algn="bl" stPos="0" sy="-100000" ky="0"/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SEPPT_HK_Kelie_20220801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2022-08-31T09:18:37Z</dcterms:created>
  <dc:creator>Cherry</dc:creator>
</cp:coreProperties>
</file>